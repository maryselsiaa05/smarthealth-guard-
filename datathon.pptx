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8" r:id="rId3"/>
    <p:sldId id="267" r:id="rId4"/>
    <p:sldId id="260" r:id="rId5"/>
    <p:sldId id="273" r:id="rId6"/>
    <p:sldId id="269" r:id="rId7"/>
    <p:sldId id="259" r:id="rId8"/>
    <p:sldId id="270" r:id="rId9"/>
    <p:sldId id="271" r:id="rId10"/>
    <p:sldId id="272" r:id="rId11"/>
    <p:sldId id="263" r:id="rId12"/>
    <p:sldId id="274" r:id="rId13"/>
    <p:sldId id="264" r:id="rId14"/>
    <p:sldId id="265" r:id="rId15"/>
    <p:sldId id="268" r:id="rId16"/>
    <p:sldId id="26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>
      <p:cViewPr varScale="1">
        <p:scale>
          <a:sx n="55" d="100"/>
          <a:sy n="55" d="100"/>
        </p:scale>
        <p:origin x="1028" y="3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3B725B-653D-4166-A8E9-72A38A1847CF}" type="datetimeFigureOut">
              <a:rPr lang="en-US"/>
              <a:t>10/19/2025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861E8E-D392-497B-BB21-122DD7C27CF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8353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3F64CD-0576-4A9A-BD06-7889D6E60BDC}" type="datetimeFigureOut">
              <a:rPr lang="en-US"/>
              <a:t>10/19/2025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55D449-B875-4B8D-8E66-224D27E54C9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9979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55D449-B875-4B8D-8E66-224D27E54C9A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415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 flip="none" rotWithShape="1">
          <a:gsLst>
            <a:gs pos="0">
              <a:srgbClr val="D9D9D9"/>
            </a:gs>
            <a:gs pos="100000">
              <a:schemeClr val="bg1"/>
            </a:gs>
          </a:gsLst>
          <a:lin ang="81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6225" y="1828800"/>
            <a:ext cx="4098175" cy="317738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225" y="5181600"/>
            <a:ext cx="4098175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7" name="Picture 6" descr="EKG line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8688" y="-1"/>
            <a:ext cx="7000137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10/19/2025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75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Rectangle"/>
          <p:cNvSpPr/>
          <p:nvPr/>
        </p:nvSpPr>
        <p:spPr>
          <a:xfrm>
            <a:off x="265112" y="228600"/>
            <a:ext cx="116586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1828800"/>
            <a:ext cx="7772400" cy="317738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5181600"/>
            <a:ext cx="7772400" cy="685800"/>
          </a:xfrm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825624"/>
            <a:ext cx="4800600" cy="4575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4"/>
            <a:ext cx="4800600" cy="4575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10/19/2025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828799"/>
            <a:ext cx="4800600" cy="762000"/>
          </a:xfrm>
        </p:spPr>
        <p:txBody>
          <a:bodyPr anchor="ctr">
            <a:noAutofit/>
          </a:bodyPr>
          <a:lstStyle>
            <a:lvl1pPr marL="0" indent="0">
              <a:buNone/>
              <a:defRPr sz="2400" b="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6800" y="2590799"/>
            <a:ext cx="4800600" cy="381003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28799"/>
            <a:ext cx="4800600" cy="762000"/>
          </a:xfrm>
        </p:spPr>
        <p:txBody>
          <a:bodyPr anchor="ctr">
            <a:noAutofit/>
          </a:bodyPr>
          <a:lstStyle>
            <a:lvl1pPr marL="0" indent="0">
              <a:buNone/>
              <a:defRPr sz="2400" b="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90799"/>
            <a:ext cx="4800600" cy="381003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10/19/2025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10/19/2025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10/19/2025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descr="Rectangle"/>
          <p:cNvSpPr/>
          <p:nvPr/>
        </p:nvSpPr>
        <p:spPr>
          <a:xfrm>
            <a:off x="7008812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 descr="Rectangle"/>
          <p:cNvSpPr/>
          <p:nvPr/>
        </p:nvSpPr>
        <p:spPr>
          <a:xfrm>
            <a:off x="7255668" y="228600"/>
            <a:ext cx="46863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2700" y="3200400"/>
            <a:ext cx="3932237" cy="17526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57201"/>
            <a:ext cx="5943600" cy="5943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32699" y="5029200"/>
            <a:ext cx="3932237" cy="13716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descr="Rectangle"/>
          <p:cNvSpPr/>
          <p:nvPr/>
        </p:nvSpPr>
        <p:spPr>
          <a:xfrm>
            <a:off x="7008812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 descr="Rectangle"/>
          <p:cNvSpPr/>
          <p:nvPr/>
        </p:nvSpPr>
        <p:spPr>
          <a:xfrm>
            <a:off x="7255668" y="228600"/>
            <a:ext cx="46863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5240" y="3200400"/>
            <a:ext cx="3932237" cy="17526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" y="0"/>
            <a:ext cx="7008810" cy="6857999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35240" y="5029200"/>
            <a:ext cx="3932237" cy="137464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10/19/2025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Rectangle"/>
          <p:cNvSpPr/>
          <p:nvPr/>
        </p:nvSpPr>
        <p:spPr>
          <a:xfrm>
            <a:off x="9982200" y="0"/>
            <a:ext cx="22098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58399" y="457201"/>
            <a:ext cx="2057401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9067800" cy="5943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10/19/2025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9D9D9"/>
            </a:gs>
            <a:gs pos="100000">
              <a:schemeClr val="bg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d bar" descr="Red bar"/>
          <p:cNvSpPr/>
          <p:nvPr/>
        </p:nvSpPr>
        <p:spPr>
          <a:xfrm>
            <a:off x="1" y="1"/>
            <a:ext cx="12188824" cy="1524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99220"/>
            <a:ext cx="10058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828799"/>
            <a:ext cx="9144000" cy="4572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481760"/>
            <a:ext cx="78486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67800" y="6465885"/>
            <a:ext cx="10668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10/19/2025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481760"/>
            <a:ext cx="8382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68680" indent="-182563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5156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3444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41732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60020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8308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312712" y="990600"/>
            <a:ext cx="5795536" cy="3312368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Health Guard: Heartbeat Monitoring</a:t>
            </a:r>
            <a:b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Alert System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E45B839-15C7-1BFE-41A7-7820C22304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5056" y="3960068"/>
            <a:ext cx="4098175" cy="685800"/>
          </a:xfrm>
        </p:spPr>
        <p:txBody>
          <a:bodyPr/>
          <a:lstStyle/>
          <a:p>
            <a:r>
              <a:rPr lang="en-IN" dirty="0"/>
              <a:t>~Mary Selsiaa p</a:t>
            </a:r>
          </a:p>
        </p:txBody>
      </p:sp>
    </p:spTree>
    <p:extLst>
      <p:ext uri="{BB962C8B-B14F-4D97-AF65-F5344CB8AC3E}">
        <p14:creationId xmlns:p14="http://schemas.microsoft.com/office/powerpoint/2010/main" val="43514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2C6A83-18A1-D5CC-113C-FE1862071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0607" y="1844824"/>
            <a:ext cx="10116616" cy="4572001"/>
          </a:xfrm>
        </p:spPr>
        <p:txBody>
          <a:bodyPr>
            <a:normAutofit lnSpcReduction="10000"/>
          </a:bodyPr>
          <a:lstStyle/>
          <a:p>
            <a:pPr algn="just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Heart-related illnesses are increasing worldwide, and many cases go unnoticed until it’s too late.</a:t>
            </a:r>
          </a:p>
          <a:p>
            <a:pPr algn="just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with communication barriers (deaf or mute individuals) find it hard to express health discomforts in time.</a:t>
            </a:r>
          </a:p>
          <a:p>
            <a:pPr algn="just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monitoring systems are costly, bulky, and not suitable for continuous use.</a:t>
            </a:r>
          </a:p>
          <a:p>
            <a:pPr algn="just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There’s a need for a 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low-cost, portable, and intelligent system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monitors heartbeat and instantly alerts caregivers or doctors.</a:t>
            </a:r>
          </a:p>
          <a:p>
            <a:pPr marL="0" indent="0" algn="just">
              <a:buNone/>
            </a:pP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Focus: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Making health monitoring simple, affordable, and accessible for everyone.</a:t>
            </a:r>
          </a:p>
          <a:p>
            <a:pPr algn="just"/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8620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5F5C1-E619-0A23-B691-C780D101B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8146C-5486-2777-C5D1-EBC278D0B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9456" y="2060848"/>
            <a:ext cx="10058400" cy="3816424"/>
          </a:xfrm>
        </p:spPr>
        <p:txBody>
          <a:bodyPr>
            <a:normAutofit/>
          </a:bodyPr>
          <a:lstStyle/>
          <a:p>
            <a:pPr algn="just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individuals, especially those who are deaf, mute, or elderly cannot easily communicate when they face health issues.</a:t>
            </a:r>
          </a:p>
          <a:p>
            <a:pPr algn="just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lack of 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continuous, affordable heart-rate monitoring devices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can send 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alerts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caretakers or hospitals during emergencies.</a:t>
            </a:r>
            <a:endParaRPr lang="en-GB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aim: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an IoT-based 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Health Guard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monitors heart rate, detects abnormalities, and automatically alerts emergency contacts through GSM and IoT systems.</a:t>
            </a:r>
          </a:p>
          <a:p>
            <a:pPr algn="just"/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5383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988840"/>
            <a:ext cx="10058400" cy="4572001"/>
          </a:xfrm>
        </p:spPr>
        <p:txBody>
          <a:bodyPr>
            <a:normAutofit/>
          </a:bodyPr>
          <a:lstStyle/>
          <a:p>
            <a:pPr algn="just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wearable health monitoring device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can measure heart rate in real-time.</a:t>
            </a:r>
          </a:p>
          <a:p>
            <a:pPr algn="just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send 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alerts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via SMS or app notifications during abnormal readings.</a:t>
            </a:r>
          </a:p>
          <a:p>
            <a:pPr algn="just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the system is 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affordable, portable, and user-friendly.</a:t>
            </a:r>
          </a:p>
          <a:p>
            <a:pPr algn="just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mobile/web dashboard for health data tracking.</a:t>
            </a:r>
          </a:p>
          <a:p>
            <a:pPr algn="just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early detection and reduce the response time during medical emergencies.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862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466C0-19B8-5547-DC08-00D416213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30B52CE-F7B6-6B11-AEFF-D652665AB9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99456" y="1859373"/>
            <a:ext cx="9925744" cy="3892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Many existing monitoring systems are costly and complex for rural use.</a:t>
            </a:r>
          </a:p>
          <a:p>
            <a:pPr marR="0" lvl="0" algn="l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Wearable trackers depend on mobile apps but don’t provide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immediate alerts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emergencies.</a:t>
            </a:r>
          </a:p>
          <a:p>
            <a:pPr marR="0" lvl="0" algn="l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Our approach uses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dual alert modes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(SMS + Cloud) for reliability.</a:t>
            </a:r>
          </a:p>
        </p:txBody>
      </p:sp>
    </p:spTree>
    <p:extLst>
      <p:ext uri="{BB962C8B-B14F-4D97-AF65-F5344CB8AC3E}">
        <p14:creationId xmlns:p14="http://schemas.microsoft.com/office/powerpoint/2010/main" val="3910640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8325B-30F6-CE68-7E60-8ACCF2336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0C4DA48-C975-E44D-C02E-CEA89D3D16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4661075"/>
              </p:ext>
            </p:extLst>
          </p:nvPr>
        </p:nvGraphicFramePr>
        <p:xfrm>
          <a:off x="1524000" y="2060848"/>
          <a:ext cx="9144000" cy="381000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4064581788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3601335446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276159068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2182914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&amp;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Approach / 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 / Gap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0279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a-DK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Kumar et al., 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IoT-based Heartbeat Sensor with Arduino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BPM 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alert system or mobile notification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7368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i-FI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R. Meena et al., 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Wearable Health Tracker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Continuous 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cost and limited connectivity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0770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A. Rajesh et al., 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Cloud-based Health Data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data 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offline or GSM-based alerts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4259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System (Smart Health Guard)</a:t>
                      </a:r>
                      <a:endParaRPr lang="en-GB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 + GSM + AI-based Alert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Affordable, instant alert + portability</a:t>
                      </a:r>
                      <a:endParaRPr lang="en-GB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to heart rate in prototype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46673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474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1F1DD46-D82D-E8C3-F145-35D83E0197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9416" y="1825624"/>
            <a:ext cx="10441160" cy="4575175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Concept: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wearable device continuously monitors the user’s heartbeat. If an abnormal rate is detected, it automatically sends an alert to caregivers via SMS or app notification.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ArchitectureFlow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→ Arduino Nano →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NodeMCU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Cloud/GSM → Alert to Caretaker</a:t>
            </a:r>
          </a:p>
          <a:p>
            <a:pPr marL="0" indent="0">
              <a:buNone/>
            </a:pPr>
            <a:r>
              <a:rPr lang="en-GB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endParaRPr lang="en-GB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Compact wearable design</a:t>
            </a:r>
          </a:p>
          <a:p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 alert system (local + remote)</a:t>
            </a:r>
          </a:p>
          <a:p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visualization</a:t>
            </a:r>
          </a:p>
          <a:p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setup and maintenance</a:t>
            </a:r>
          </a:p>
          <a:p>
            <a:pPr marL="0" indent="0">
              <a:lnSpc>
                <a:spcPct val="100000"/>
              </a:lnSpc>
              <a:buNone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8826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90C1F-1C2F-410D-7F3F-B5663703D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80FAEED-790A-FB8F-8A40-15879EC4B1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1825624"/>
            <a:ext cx="6109320" cy="4575175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Pulse sensor detects heartbeat using photoplethysmography (PPG).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Nano processes the pulse data and calculates BPM.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BPM &lt; 60 or &gt; 100 → abnormal condition detected.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NodeMCU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GSM module triggers an alert message with location/time.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is uploaded to the IoT dashboard or sent via SMS.</a:t>
            </a:r>
          </a:p>
        </p:txBody>
      </p:sp>
      <p:pic>
        <p:nvPicPr>
          <p:cNvPr id="8" name="Image 2">
            <a:extLst>
              <a:ext uri="{FF2B5EF4-FFF2-40B4-BE49-F238E27FC236}">
                <a16:creationId xmlns:a16="http://schemas.microsoft.com/office/drawing/2014/main" id="{BF2BDDA9-94B1-1652-DDF7-B7A8050F0235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7320136" y="1805218"/>
            <a:ext cx="4543425" cy="45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050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E874E94-1537-3C7C-7BF4-8A8AC852D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Design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495509C-570C-B397-ECA4-DBEAA04A7E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3432" y="1700808"/>
            <a:ext cx="5544616" cy="4575175"/>
          </a:xfrm>
          <a:ln>
            <a:solidFill>
              <a:schemeClr val="tx1"/>
            </a:solidFill>
          </a:ln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Components: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Nano (Microcontroller)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Pulse Sensor (MAX30100 / KY-039)</a:t>
            </a:r>
          </a:p>
          <a:p>
            <a:pPr algn="just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NodeMCU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ESP8266 (Wi-Fi connectivity)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GSM Module SIM800L (SMS alert system)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OLED Display (Real-time BPM output)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Buzzer (Emergency alarm)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Rechargeable Battery (Power source)</a:t>
            </a:r>
          </a:p>
          <a:p>
            <a:endParaRPr lang="en-IN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9A5F08E-A7A5-9284-1A7F-97432824D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88088" y="1700807"/>
            <a:ext cx="4800600" cy="4575175"/>
          </a:xfrm>
          <a:ln>
            <a:solidFill>
              <a:schemeClr val="tx1"/>
            </a:solidFill>
          </a:ln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Connectivity Summary: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→ Arduino (Analog Input)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NodeMCU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(Serial)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NodeMCU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Cloud (Wi-Fi)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→ GSM (TX/RX for SMS)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1831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8BEB7-A9DD-75AC-6037-5992A831D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E4897-0507-1686-87EF-8AA86D8DF6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257800" cy="4575175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Platforms: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IDE for programming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C / Python (for logic)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MQTT / HTTP for IoT communication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 /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(cloud storage)</a:t>
            </a: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Dashboard: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BPM graph, alert logs, and daily health reports.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847527-5960-9C23-8392-14AC275512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53200" y="1825624"/>
            <a:ext cx="4800600" cy="4575175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 Code:</a:t>
            </a:r>
          </a:p>
          <a:p>
            <a:pPr marL="0" indent="0">
              <a:buNone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readPulse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(BPM &lt; 60 || BPM &gt; 100)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sendAlertSMS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triggerBuzzer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updateCloudData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6621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&amp; Testing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B9E9814-587A-0EA3-27B9-45870BB3F6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9977" y="1586627"/>
            <a:ext cx="10435178" cy="4760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Setup: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using Arduino + </a:t>
            </a: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NodeMCU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board</a:t>
            </a:r>
          </a:p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 with 5 users of different age groups</a:t>
            </a:r>
          </a:p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displayed on OLED &amp; mobile dashboard</a:t>
            </a:r>
          </a:p>
          <a:p>
            <a:pPr marL="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Results:</a:t>
            </a:r>
            <a:endParaRPr lang="en-GB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B54A57A-7B10-B66C-BFF8-3A28840DAA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379711"/>
              </p:ext>
            </p:extLst>
          </p:nvPr>
        </p:nvGraphicFramePr>
        <p:xfrm>
          <a:off x="1199456" y="4581128"/>
          <a:ext cx="9426052" cy="1776612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356513">
                  <a:extLst>
                    <a:ext uri="{9D8B030D-6E8A-4147-A177-3AD203B41FA5}">
                      <a16:colId xmlns:a16="http://schemas.microsoft.com/office/drawing/2014/main" val="979265814"/>
                    </a:ext>
                  </a:extLst>
                </a:gridCol>
                <a:gridCol w="2356513">
                  <a:extLst>
                    <a:ext uri="{9D8B030D-6E8A-4147-A177-3AD203B41FA5}">
                      <a16:colId xmlns:a16="http://schemas.microsoft.com/office/drawing/2014/main" val="3122563870"/>
                    </a:ext>
                  </a:extLst>
                </a:gridCol>
                <a:gridCol w="2356513">
                  <a:extLst>
                    <a:ext uri="{9D8B030D-6E8A-4147-A177-3AD203B41FA5}">
                      <a16:colId xmlns:a16="http://schemas.microsoft.com/office/drawing/2014/main" val="110445292"/>
                    </a:ext>
                  </a:extLst>
                </a:gridCol>
                <a:gridCol w="2356513">
                  <a:extLst>
                    <a:ext uri="{9D8B030D-6E8A-4147-A177-3AD203B41FA5}">
                      <a16:colId xmlns:a16="http://schemas.microsoft.com/office/drawing/2014/main" val="2897540258"/>
                    </a:ext>
                  </a:extLst>
                </a:gridCol>
              </a:tblGrid>
              <a:tr h="4441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8620642"/>
                  </a:ext>
                </a:extLst>
              </a:tr>
              <a:tr h="4441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Heart Rate (BPM)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70–90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71–92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5833601"/>
                  </a:ext>
                </a:extLst>
              </a:tr>
              <a:tr h="4441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Alert Delay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6 sec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4.8 sec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5025933"/>
                  </a:ext>
                </a:extLst>
              </a:tr>
              <a:tr h="4441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≤ ₹2200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₹1900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414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7100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B9B4B-18B0-3FAA-B55E-4F301531A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vs Proposed System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4ABAB47-7721-4DCD-60A1-B5F1DCB302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4982873"/>
              </p:ext>
            </p:extLst>
          </p:nvPr>
        </p:nvGraphicFramePr>
        <p:xfrm>
          <a:off x="983433" y="2060848"/>
          <a:ext cx="10141767" cy="347472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3380589">
                  <a:extLst>
                    <a:ext uri="{9D8B030D-6E8A-4147-A177-3AD203B41FA5}">
                      <a16:colId xmlns:a16="http://schemas.microsoft.com/office/drawing/2014/main" val="467605997"/>
                    </a:ext>
                  </a:extLst>
                </a:gridCol>
                <a:gridCol w="3380589">
                  <a:extLst>
                    <a:ext uri="{9D8B030D-6E8A-4147-A177-3AD203B41FA5}">
                      <a16:colId xmlns:a16="http://schemas.microsoft.com/office/drawing/2014/main" val="3202772174"/>
                    </a:ext>
                  </a:extLst>
                </a:gridCol>
                <a:gridCol w="3380589">
                  <a:extLst>
                    <a:ext uri="{9D8B030D-6E8A-4147-A177-3AD203B41FA5}">
                      <a16:colId xmlns:a16="http://schemas.microsoft.com/office/drawing/2014/main" val="14711603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– Smart Health Guard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3830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₹4,000 – ₹10,000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₹1,800 – ₹2,200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810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Wi-Fi / App 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GSM + IoT dual alert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2383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Accessibility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smartphone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Works standalone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0590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Cloud-based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 + Local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6678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Target Users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General fitness users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Deaf, mute, elderly, rural patients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15311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1267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811D5-E7BF-BC1F-EF27-05B07633D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BB016-E370-77C6-201C-BBCA35569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3552" y="2132856"/>
            <a:ext cx="9361040" cy="3600400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BPM detection accuracy: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96.2%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response time: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5 seconds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 backup: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 hours continuous monitoring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feedback: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comfortable and easy to use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1865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bg1">
                <a:lumMod val="85000"/>
              </a:schemeClr>
            </a:solidFill>
          </a:ln>
          <a:effectLst>
            <a:softEdge rad="12700"/>
          </a:effectLst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Benefits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8DEC43CF-844F-DA6D-0AAA-EB2C51F10E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3453722"/>
              </p:ext>
            </p:extLst>
          </p:nvPr>
        </p:nvGraphicFramePr>
        <p:xfrm>
          <a:off x="947428" y="1988840"/>
          <a:ext cx="10297143" cy="374904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3432381">
                  <a:extLst>
                    <a:ext uri="{9D8B030D-6E8A-4147-A177-3AD203B41FA5}">
                      <a16:colId xmlns:a16="http://schemas.microsoft.com/office/drawing/2014/main" val="1801029192"/>
                    </a:ext>
                  </a:extLst>
                </a:gridCol>
                <a:gridCol w="3432381">
                  <a:extLst>
                    <a:ext uri="{9D8B030D-6E8A-4147-A177-3AD203B41FA5}">
                      <a16:colId xmlns:a16="http://schemas.microsoft.com/office/drawing/2014/main" val="3197809674"/>
                    </a:ext>
                  </a:extLst>
                </a:gridCol>
                <a:gridCol w="3432381">
                  <a:extLst>
                    <a:ext uri="{9D8B030D-6E8A-4147-A177-3AD203B41FA5}">
                      <a16:colId xmlns:a16="http://schemas.microsoft.com/office/drawing/2014/main" val="20578918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Benefits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Impact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2546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Safety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Early detection of heart issues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Saves lives through faster response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0596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Accessibility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Designed for deaf/mute users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inclusivity in healthcare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2760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Affordability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Low-cost components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65% cheaper than market devices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7472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Scalability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 &amp; GSM-based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Easy to deploy in rural areas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74781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4748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0BFF145-1522-B9C1-57C5-DFF7E7105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1EF8BA3-F768-F31A-FF35-556B586473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71464" y="2060848"/>
            <a:ext cx="9505056" cy="3892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AI/ML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arrhythmia prediction.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Adding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SpO₂, body temperature, BP sensors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 app with voice and visual alerts.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dashboard for doctor access and analytics.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ambulance services or hospitals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auto-emergency response.</a:t>
            </a:r>
          </a:p>
        </p:txBody>
      </p:sp>
    </p:spTree>
    <p:extLst>
      <p:ext uri="{BB962C8B-B14F-4D97-AF65-F5344CB8AC3E}">
        <p14:creationId xmlns:p14="http://schemas.microsoft.com/office/powerpoint/2010/main" val="543991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SDG Alignment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E55AD35-0857-95FD-F0A6-16F19C5C73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3392" y="1772816"/>
            <a:ext cx="11233248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: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Health Guard provides an efficient and affordable health monitoring solution that bridges the gap between technology and accessibility. It empowers non-verbal and elderly individuals to stay safe through continuous health surveillance.</a:t>
            </a: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Aligned SDGs: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3: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Good Health &amp; Well-being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9: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Industry, Innovation &amp; Infrastructure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10: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Reduced Inequality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11: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Sustainable Communities</a:t>
            </a:r>
          </a:p>
          <a:p>
            <a:pPr marL="0" indent="0" algn="ctr">
              <a:buNone/>
            </a:pPr>
            <a:r>
              <a:rPr lang="en-GB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“Smart Health Guard — your silent companion for a safer tomorrow.”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9232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edical Design 16x9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001141.potx" id="{D7485564-6666-4DDB-B0D3-55F6E694D6E5}" vid="{6E950D30-6FC6-4411-BCFF-468AD9ECA787}"/>
    </a:ext>
  </a:extLst>
</a:theme>
</file>

<file path=ppt/theme/theme2.xml><?xml version="1.0" encoding="utf-8"?>
<a:theme xmlns:a="http://schemas.openxmlformats.org/drawingml/2006/main" name="Office Theme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Medical design presentation (widescreen)</Template>
  <TotalTime>138</TotalTime>
  <Words>1008</Words>
  <Application>Microsoft Office PowerPoint</Application>
  <PresentationFormat>Widescreen</PresentationFormat>
  <Paragraphs>162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Franklin Gothic Medium</vt:lpstr>
      <vt:lpstr>Times New Roman</vt:lpstr>
      <vt:lpstr>Wingdings</vt:lpstr>
      <vt:lpstr>Medical Design 16x9</vt:lpstr>
      <vt:lpstr>Smart Health Guard: Heartbeat Monitoring  &amp; Alert System </vt:lpstr>
      <vt:lpstr>Problem Statement</vt:lpstr>
      <vt:lpstr>Project Scope</vt:lpstr>
      <vt:lpstr>Objectives</vt:lpstr>
      <vt:lpstr>Critical Analysis</vt:lpstr>
      <vt:lpstr>Literature Review</vt:lpstr>
      <vt:lpstr>Proposed Work</vt:lpstr>
      <vt:lpstr>Methodology</vt:lpstr>
      <vt:lpstr>Hardware Design</vt:lpstr>
      <vt:lpstr>Software Design</vt:lpstr>
      <vt:lpstr>Implementation &amp; Testing</vt:lpstr>
      <vt:lpstr>Existing System vs Proposed System</vt:lpstr>
      <vt:lpstr>Results &amp; Performance</vt:lpstr>
      <vt:lpstr>Potential Benefits</vt:lpstr>
      <vt:lpstr>Future Scope</vt:lpstr>
      <vt:lpstr>Conclusion &amp; SDG Alignment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Mary Selsiaa Peter Sudhagar</dc:creator>
  <cp:lastModifiedBy>Mary Selsiaa Peter Sudhagar</cp:lastModifiedBy>
  <cp:revision>4</cp:revision>
  <dcterms:created xsi:type="dcterms:W3CDTF">2025-09-08T17:29:02Z</dcterms:created>
  <dcterms:modified xsi:type="dcterms:W3CDTF">2025-10-19T17:36:39Z</dcterms:modified>
</cp:coreProperties>
</file>