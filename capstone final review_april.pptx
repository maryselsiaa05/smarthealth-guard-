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74" r:id="rId3"/>
    <p:sldId id="258" r:id="rId4"/>
    <p:sldId id="269" r:id="rId5"/>
    <p:sldId id="273" r:id="rId6"/>
    <p:sldId id="267" r:id="rId7"/>
    <p:sldId id="259" r:id="rId8"/>
    <p:sldId id="260" r:id="rId9"/>
    <p:sldId id="271" r:id="rId10"/>
    <p:sldId id="272" r:id="rId11"/>
    <p:sldId id="270" r:id="rId12"/>
    <p:sldId id="263" r:id="rId13"/>
    <p:sldId id="264" r:id="rId14"/>
    <p:sldId id="276" r:id="rId15"/>
    <p:sldId id="277" r:id="rId16"/>
    <p:sldId id="268" r:id="rId17"/>
    <p:sldId id="266" r:id="rId18"/>
    <p:sldId id="275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>
        <p:scale>
          <a:sx n="37" d="100"/>
          <a:sy n="37" d="100"/>
        </p:scale>
        <p:origin x="1720" y="78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4/8/2026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4/8/2026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415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4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127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4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23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9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12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10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19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89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63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57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5947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29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873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36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708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0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80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lseloop.org/" TargetMode="External"/><Relationship Id="rId2" Type="http://schemas.openxmlformats.org/officeDocument/2006/relationships/hyperlink" Target="https://onlineheartbea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andomnerdtutorials.com/" TargetMode="External"/><Relationship Id="rId5" Type="http://schemas.openxmlformats.org/officeDocument/2006/relationships/hyperlink" Target="https://developer.mozilla.org/" TargetMode="External"/><Relationship Id="rId4" Type="http://schemas.openxmlformats.org/officeDocument/2006/relationships/hyperlink" Target="https://www.arduino.cc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368" y="1196752"/>
            <a:ext cx="11377264" cy="3806552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Guard: Heartbeat Monitoring</a:t>
            </a:r>
            <a:b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Alert System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9576" y="3789040"/>
            <a:ext cx="4098175" cy="685800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3DE1-770F-AA18-CF95-D43D5EE5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CD7FC-CDD0-DA0D-28C5-84F7A5E48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96" y="2348880"/>
            <a:ext cx="6444208" cy="2824337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Mary Selsiaa p – 99220040628</a:t>
            </a:r>
          </a:p>
          <a:p>
            <a:r>
              <a:rPr lang="da-DK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Syam Sundhar Yadav – 99220040632</a:t>
            </a:r>
          </a:p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Vishnu Sai – 99220040630 </a:t>
            </a:r>
          </a:p>
          <a:p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Siva Nagaraju – 99220040412</a:t>
            </a:r>
            <a:r>
              <a:rPr lang="en-IN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665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C6A83-18A1-D5CC-113C-FE1862071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377279"/>
            <a:ext cx="10116616" cy="4572001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Nowadays, heart problems are increasing a lot. Many people cannot identify their health condition at the correct time.</a:t>
            </a:r>
          </a:p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elderly people and non-verbal persons cannot explain their condition quickly.</a:t>
            </a:r>
          </a:p>
          <a:p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we need a system which can</a:t>
            </a:r>
            <a:b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 monitor heartbeat continuously</a:t>
            </a:r>
            <a:b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 and give alert immediately</a:t>
            </a:r>
          </a:p>
          <a:p>
            <a:pPr algn="just"/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8325B-30F6-CE68-7E60-8ACCF2336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0C4DA48-C975-E44D-C02E-CEA89D3D16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554481"/>
              </p:ext>
            </p:extLst>
          </p:nvPr>
        </p:nvGraphicFramePr>
        <p:xfrm>
          <a:off x="1127447" y="1484784"/>
          <a:ext cx="10418440" cy="468052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604610">
                  <a:extLst>
                    <a:ext uri="{9D8B030D-6E8A-4147-A177-3AD203B41FA5}">
                      <a16:colId xmlns:a16="http://schemas.microsoft.com/office/drawing/2014/main" val="4064581788"/>
                    </a:ext>
                  </a:extLst>
                </a:gridCol>
                <a:gridCol w="2604610">
                  <a:extLst>
                    <a:ext uri="{9D8B030D-6E8A-4147-A177-3AD203B41FA5}">
                      <a16:colId xmlns:a16="http://schemas.microsoft.com/office/drawing/2014/main" val="3601335446"/>
                    </a:ext>
                  </a:extLst>
                </a:gridCol>
                <a:gridCol w="2604610">
                  <a:extLst>
                    <a:ext uri="{9D8B030D-6E8A-4147-A177-3AD203B41FA5}">
                      <a16:colId xmlns:a16="http://schemas.microsoft.com/office/drawing/2014/main" val="2276159068"/>
                    </a:ext>
                  </a:extLst>
                </a:gridCol>
                <a:gridCol w="2604610">
                  <a:extLst>
                    <a:ext uri="{9D8B030D-6E8A-4147-A177-3AD203B41FA5}">
                      <a16:colId xmlns:a16="http://schemas.microsoft.com/office/drawing/2014/main" val="1218291434"/>
                    </a:ext>
                  </a:extLst>
                </a:gridCol>
              </a:tblGrid>
              <a:tr h="861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/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279852"/>
                  </a:ext>
                </a:extLst>
              </a:tr>
              <a:tr h="861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a-DK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Kumar et al.,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Heartbeat Sensor with Arduino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BPM 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alert system or mobile notification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368865"/>
                  </a:ext>
                </a:extLst>
              </a:tr>
              <a:tr h="861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i-FI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Meena et al.,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Wearable Health 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 and limited connectivity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770789"/>
                  </a:ext>
                </a:extLst>
              </a:tr>
              <a:tr h="861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Rajesh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Cloud-based Health Data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data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offline or GSM-based alerts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259542"/>
                  </a:ext>
                </a:extLst>
              </a:tr>
              <a:tr h="12356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(Smart Health Guard)</a:t>
                      </a:r>
                      <a:endParaRPr lang="en-GB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 + GSM + AI-based Alert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Affordable, instant alert + portability</a:t>
                      </a:r>
                      <a:endParaRPr lang="en-GB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heart rate in prototype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67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474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EBAB2-0B97-C631-9F19-C52AD270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Existing System Analysis</a:t>
            </a:r>
            <a:endParaRPr lang="en-IN" sz="4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75061-41F1-0C75-84F8-04987FC0F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4104" y="1374394"/>
            <a:ext cx="5233864" cy="4320479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existing systems mainly include hospital ECG machines, smartwatches, and mobile health applications.</a:t>
            </a:r>
          </a:p>
          <a:p>
            <a:pPr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monitors are highly accurate but expensive and not portable for daily monitoring.</a:t>
            </a:r>
          </a:p>
          <a:p>
            <a:pPr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provide basic BPM values but lack detailed waveform analysis.</a:t>
            </a:r>
          </a:p>
          <a:p>
            <a:pPr>
              <a:lnSpc>
                <a:spcPct val="120000"/>
              </a:lnSpc>
            </a:pPr>
            <a:r>
              <a:rPr lang="en-GB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online heartbeat detector websites show random values and do not simulate a realistic medical monitoring interface.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AAF98-C890-E42F-8634-6A02B6381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10318"/>
            <a:ext cx="6274155" cy="41092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medical equipment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ECG visualization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accuracy in simple applications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designed with a professional medical dashboard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analysis of heart rate range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gap that our proposed system aims to solve.</a:t>
            </a:r>
          </a:p>
        </p:txBody>
      </p:sp>
    </p:spTree>
    <p:extLst>
      <p:ext uri="{BB962C8B-B14F-4D97-AF65-F5344CB8AC3E}">
        <p14:creationId xmlns:p14="http://schemas.microsoft.com/office/powerpoint/2010/main" val="9615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F5C1-E619-0A23-B691-C780D101B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146C-5486-2777-C5D1-EBC278D0B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456" y="1628800"/>
            <a:ext cx="10058400" cy="3816424"/>
          </a:xfrm>
        </p:spPr>
        <p:txBody>
          <a:bodyPr>
            <a:norm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individuals, especially those who are deaf, mute, or elderly cannot easily communicate when they face health issues.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lack of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continuous, affordable heart-rate monitoring devices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send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caretakers or hospitals during emergencies.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aim: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IoT-based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Guard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monitors heart rate, detects abnormalities, and automatically alerts emergency contacts through GSM and IoT systems.</a:t>
            </a:r>
          </a:p>
          <a:p>
            <a:pPr algn="just"/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38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F1DD46-D82D-E8C3-F145-35D83E019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5420" y="1556792"/>
            <a:ext cx="10441160" cy="4575175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wearable device continuously monitors the user’s heartbeat. If an abnormal rate is detected, it automatically sends an alert to caregivers via SMS or app notification.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ArchitectureFlow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→ Arduino Nano →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Cloud/GSM → Alert to Caretaker</a:t>
            </a:r>
          </a:p>
          <a:p>
            <a:pPr marL="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GB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wearable design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alert system (local + remote)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visualization</a:t>
            </a:r>
          </a:p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setup and maintenance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412776"/>
            <a:ext cx="10058400" cy="4572001"/>
          </a:xfrm>
        </p:spPr>
        <p:txBody>
          <a:bodyPr>
            <a:normAutofit/>
          </a:bodyPr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health monitoring device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measure heart rate in real-time.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send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via SMS or app notifications during abnormal readings.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the system is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affordable, portable, and user-friendly.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mobile/web dashboard for health data tracking.</a:t>
            </a:r>
          </a:p>
          <a:p>
            <a:pPr algn="just"/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early detection and reduce the response time during medical emergencies.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874E94-1537-3C7C-7BF4-8A8AC852D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Design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495509C-570C-B397-ECA4-DBEAA04A7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1340768"/>
            <a:ext cx="5112568" cy="3384376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 (Microcontroller)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 (MAX30100 / KY-039)</a:t>
            </a:r>
          </a:p>
          <a:p>
            <a:pPr algn="just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ESP8266 (Wi-Fi connectivity)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 SIM800L (SMS alert system)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(Real-time BPM output)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(Emergency alarm)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Rechargeable Battery (Power source)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9A5F08E-A7A5-9284-1A7F-97432824D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064" y="2852936"/>
            <a:ext cx="4800600" cy="302433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Summary: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→ Arduino (Analog Input)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→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(Serial)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Cloud (Wi-Fi)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→ GSM (TX/RX for SMS)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83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8BEB7-A9DD-75AC-6037-5992A831D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4897-0507-1686-87EF-8AA86D8DF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4426" y="1412776"/>
            <a:ext cx="10122093" cy="4575175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Platforms: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for programming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C++ / Python (for logic)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/ HTTP for IoT communication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/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(cloud storage)</a:t>
            </a:r>
          </a:p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BPM graph, alert logs, and daily health reports.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62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90C1F-1C2F-410D-7F3F-B5663703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0FAEED-790A-FB8F-8A40-15879EC4B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10789840" cy="4575175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 detects heartbeat using photoplethysmography (PPG).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Nano processes the pulse data and calculates BPM.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BPM &lt; 60 or &gt; 100 → abnormal condition detected.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GSM module triggers an alert message with location/time.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uploaded to the IoT dashboard or sent via SMS.</a:t>
            </a:r>
          </a:p>
        </p:txBody>
      </p:sp>
    </p:spTree>
    <p:extLst>
      <p:ext uri="{BB962C8B-B14F-4D97-AF65-F5344CB8AC3E}">
        <p14:creationId xmlns:p14="http://schemas.microsoft.com/office/powerpoint/2010/main" val="103305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Testing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9E9814-587A-0EA3-27B9-45870BB3F6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5281" y="1412776"/>
            <a:ext cx="10435178" cy="4760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Setup: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Arduino +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board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with 5 users of different age groups</a:t>
            </a: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displayed on OLED &amp; mobile dashboard</a:t>
            </a:r>
          </a:p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Results: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54A57A-7B10-B66C-BFF8-3A28840DA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79711"/>
              </p:ext>
            </p:extLst>
          </p:nvPr>
        </p:nvGraphicFramePr>
        <p:xfrm>
          <a:off x="1199456" y="4581128"/>
          <a:ext cx="9426052" cy="177661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56513">
                  <a:extLst>
                    <a:ext uri="{9D8B030D-6E8A-4147-A177-3AD203B41FA5}">
                      <a16:colId xmlns:a16="http://schemas.microsoft.com/office/drawing/2014/main" val="979265814"/>
                    </a:ext>
                  </a:extLst>
                </a:gridCol>
                <a:gridCol w="2356513">
                  <a:extLst>
                    <a:ext uri="{9D8B030D-6E8A-4147-A177-3AD203B41FA5}">
                      <a16:colId xmlns:a16="http://schemas.microsoft.com/office/drawing/2014/main" val="3122563870"/>
                    </a:ext>
                  </a:extLst>
                </a:gridCol>
                <a:gridCol w="2356513">
                  <a:extLst>
                    <a:ext uri="{9D8B030D-6E8A-4147-A177-3AD203B41FA5}">
                      <a16:colId xmlns:a16="http://schemas.microsoft.com/office/drawing/2014/main" val="110445292"/>
                    </a:ext>
                  </a:extLst>
                </a:gridCol>
                <a:gridCol w="2356513">
                  <a:extLst>
                    <a:ext uri="{9D8B030D-6E8A-4147-A177-3AD203B41FA5}">
                      <a16:colId xmlns:a16="http://schemas.microsoft.com/office/drawing/2014/main" val="2897540258"/>
                    </a:ext>
                  </a:extLst>
                </a:gridCol>
              </a:tblGrid>
              <a:tr h="444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620642"/>
                  </a:ext>
                </a:extLst>
              </a:tr>
              <a:tr h="444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Heart Rate (BPM)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70–90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71–92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833601"/>
                  </a:ext>
                </a:extLst>
              </a:tr>
              <a:tr h="444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Delay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6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 sec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5025933"/>
                  </a:ext>
                </a:extLst>
              </a:tr>
              <a:tr h="444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≤ ₹2200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414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811D5-E7BF-BC1F-EF27-05B07633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BB016-E370-77C6-201C-BBCA3556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3552" y="2132856"/>
            <a:ext cx="9361040" cy="36004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BPM detection accuracy: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96.2%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response time: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5 seconds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comfortable and easy to use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6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6B750-78BE-A9F3-BDB8-C5E564948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8DE0DA-714B-C8C5-7F71-3D7408388A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384" y="1331119"/>
            <a:ext cx="7009308" cy="4195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5B515B-506A-64D9-C38E-073C490FF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19" y="1331120"/>
            <a:ext cx="372662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3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59447-AAE8-7A10-CD80-C31EBF15E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CCC222-4B98-8246-2632-A190CD94D5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456" y="1209618"/>
            <a:ext cx="9793088" cy="519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4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BFF145-1522-B9C1-57C5-DFF7E710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1EF8BA3-F768-F31A-FF35-556B586473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9496" y="1628800"/>
            <a:ext cx="9505056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AI/ML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arrhythmia prediction.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SpO₂, body temperature, BP sensors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Mobile app with voice and visual alerts.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dashboard for doctor access and analytics.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ambulance services or hospitals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auto-emergency response.</a:t>
            </a:r>
          </a:p>
        </p:txBody>
      </p:sp>
    </p:spTree>
    <p:extLst>
      <p:ext uri="{BB962C8B-B14F-4D97-AF65-F5344CB8AC3E}">
        <p14:creationId xmlns:p14="http://schemas.microsoft.com/office/powerpoint/2010/main" val="543991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SDG Alignment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E55AD35-0857-95FD-F0A6-16F19C5C73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5793" y="1463880"/>
            <a:ext cx="11233248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: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Health Guard provides an efficient and affordable health monitoring solution that bridges the gap between technology and accessibility. It empowers non-verbal and elderly individuals to stay safe through continuous health surveillance.</a:t>
            </a:r>
          </a:p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Aligned SDGs: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3: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Good Health &amp; Well-being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Industry, Innovation &amp; Infrastructure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10: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Inequality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Sustainable Communities</a:t>
            </a:r>
          </a:p>
          <a:p>
            <a:pPr marL="0" indent="0" algn="ctr">
              <a:buNone/>
            </a:pP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“Smart Health Guard — your silent companion for a safer tomorrow.”</a:t>
            </a:r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2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0D7E5-6DF9-0FA9-0A40-C1E4323BA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2502CD-8968-A9C2-8613-71A37A3E12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1944" y="1628800"/>
            <a:ext cx="5684998" cy="4195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78D0F8-1EF8-5F22-5B41-D9EFCA6B3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94" y="1559974"/>
            <a:ext cx="4464496" cy="433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6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B30C4-1669-F010-061A-0C5DF3EE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698A5-E3D9-4032-BC91-383C7FE0E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594" y="1823507"/>
            <a:ext cx="10609312" cy="4195481"/>
          </a:xfrm>
        </p:spPr>
        <p:txBody>
          <a:bodyPr/>
          <a:lstStyle/>
          <a:p>
            <a:r>
              <a:rPr lang="en-IN" dirty="0">
                <a:hlinkClick r:id="rId2"/>
              </a:rPr>
              <a:t>https://onlineheartbeat.com</a:t>
            </a:r>
            <a:r>
              <a:rPr lang="en-IN" dirty="0"/>
              <a:t> – For heartbeat monitoring interface idea </a:t>
            </a:r>
          </a:p>
          <a:p>
            <a:r>
              <a:rPr lang="en-IN" dirty="0">
                <a:hlinkClick r:id="rId3"/>
              </a:rPr>
              <a:t>https://www.pulseloop.org</a:t>
            </a:r>
            <a:r>
              <a:rPr lang="en-IN" dirty="0"/>
              <a:t> – For pulse rate detection concept </a:t>
            </a:r>
          </a:p>
          <a:p>
            <a:r>
              <a:rPr lang="en-IN" dirty="0">
                <a:hlinkClick r:id="rId4"/>
              </a:rPr>
              <a:t>https://www.arduino.cc</a:t>
            </a:r>
            <a:r>
              <a:rPr lang="en-IN" dirty="0"/>
              <a:t> – For Arduino programming and hardware setup </a:t>
            </a:r>
          </a:p>
          <a:p>
            <a:r>
              <a:rPr lang="en-IN" dirty="0">
                <a:hlinkClick r:id="rId5"/>
              </a:rPr>
              <a:t>https://developer.mozilla.org</a:t>
            </a:r>
            <a:r>
              <a:rPr lang="en-IN" dirty="0"/>
              <a:t> – For HTML, CSS, JavaScript concepts </a:t>
            </a:r>
          </a:p>
          <a:p>
            <a:r>
              <a:rPr lang="en-IN" dirty="0">
                <a:hlinkClick r:id="rId6"/>
              </a:rPr>
              <a:t>https://randomnerdtutorials.com</a:t>
            </a:r>
            <a:r>
              <a:rPr lang="en-IN" dirty="0"/>
              <a:t> – For pulse sensor and Arduino project guidance</a:t>
            </a:r>
          </a:p>
          <a:p>
            <a:r>
              <a:rPr lang="en-IN" dirty="0"/>
              <a:t>https://youtu.be/x_fcC0qvXmI?si=6qQrMdaSTsrxBUDd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42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256</TotalTime>
  <Words>1013</Words>
  <Application>Microsoft Office PowerPoint</Application>
  <PresentationFormat>Widescreen</PresentationFormat>
  <Paragraphs>141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Century Gothic</vt:lpstr>
      <vt:lpstr>Franklin Gothic Medium</vt:lpstr>
      <vt:lpstr>Times New Roman</vt:lpstr>
      <vt:lpstr>Wingdings</vt:lpstr>
      <vt:lpstr>Wingdings 3</vt:lpstr>
      <vt:lpstr>Ion</vt:lpstr>
      <vt:lpstr>Smart Health Guard: Heartbeat Monitoring  &amp; Alert System </vt:lpstr>
      <vt:lpstr>TEAM MEMBERS</vt:lpstr>
      <vt:lpstr>Problem Statement</vt:lpstr>
      <vt:lpstr>Literature Review</vt:lpstr>
      <vt:lpstr>Existing System Analysis</vt:lpstr>
      <vt:lpstr>Project Scope</vt:lpstr>
      <vt:lpstr>Proposed Methodology</vt:lpstr>
      <vt:lpstr>Objectives</vt:lpstr>
      <vt:lpstr>Hardware Design</vt:lpstr>
      <vt:lpstr>Software Design</vt:lpstr>
      <vt:lpstr>Methodology</vt:lpstr>
      <vt:lpstr>Implementation &amp; Testing</vt:lpstr>
      <vt:lpstr>Results &amp; Performance</vt:lpstr>
      <vt:lpstr>Diagrams</vt:lpstr>
      <vt:lpstr>UML DIAGRAMS</vt:lpstr>
      <vt:lpstr>Future Scope</vt:lpstr>
      <vt:lpstr>Conclusion &amp; SDG Alignment</vt:lpstr>
      <vt:lpstr>Publication 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Selsiaa Peter Sudhagar</dc:creator>
  <cp:lastModifiedBy>Mary Selsiaa Peter Sudhagar</cp:lastModifiedBy>
  <cp:revision>7</cp:revision>
  <dcterms:created xsi:type="dcterms:W3CDTF">2025-09-08T17:29:02Z</dcterms:created>
  <dcterms:modified xsi:type="dcterms:W3CDTF">2026-04-08T17:56:14Z</dcterms:modified>
</cp:coreProperties>
</file>